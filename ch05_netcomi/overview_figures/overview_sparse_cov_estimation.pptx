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1952288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317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4036" y="854243"/>
            <a:ext cx="8964216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4036" y="2741551"/>
            <a:ext cx="8964216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2981-8EFD-4846-BBFD-D8735921FA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0366-343B-44E7-B970-2A4515D5F60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2981-8EFD-4846-BBFD-D8735921FA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0366-343B-44E7-B970-2A4515D5F60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67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495" y="1301301"/>
            <a:ext cx="10308848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5495" y="3493092"/>
            <a:ext cx="10308848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>
                    <a:tint val="82000"/>
                  </a:schemeClr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82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82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2981-8EFD-4846-BBFD-D8735921FA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0366-343B-44E7-B970-2A4515D5F60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47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1720" y="1389503"/>
            <a:ext cx="5079722" cy="33118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50846" y="1389503"/>
            <a:ext cx="5079722" cy="33118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2981-8EFD-4846-BBFD-D8735921FA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0366-343B-44E7-B970-2A4515D5F60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277" y="277901"/>
            <a:ext cx="10308848" cy="100890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3277" y="1279552"/>
            <a:ext cx="5056378" cy="627089"/>
          </a:xfrm>
        </p:spPr>
        <p:txBody>
          <a:bodyPr anchor="b"/>
          <a:lstStyle>
            <a:lvl1pPr marL="0" indent="0">
              <a:buNone/>
              <a:defRPr sz="1827" b="1"/>
            </a:lvl1pPr>
            <a:lvl2pPr marL="347975" indent="0">
              <a:buNone/>
              <a:defRPr sz="1522" b="1"/>
            </a:lvl2pPr>
            <a:lvl3pPr marL="695950" indent="0">
              <a:buNone/>
              <a:defRPr sz="1370" b="1"/>
            </a:lvl3pPr>
            <a:lvl4pPr marL="1043925" indent="0">
              <a:buNone/>
              <a:defRPr sz="1218" b="1"/>
            </a:lvl4pPr>
            <a:lvl5pPr marL="1391900" indent="0">
              <a:buNone/>
              <a:defRPr sz="1218" b="1"/>
            </a:lvl5pPr>
            <a:lvl6pPr marL="1739875" indent="0">
              <a:buNone/>
              <a:defRPr sz="1218" b="1"/>
            </a:lvl6pPr>
            <a:lvl7pPr marL="2087850" indent="0">
              <a:buNone/>
              <a:defRPr sz="1218" b="1"/>
            </a:lvl7pPr>
            <a:lvl8pPr marL="2435824" indent="0">
              <a:buNone/>
              <a:defRPr sz="1218" b="1"/>
            </a:lvl8pPr>
            <a:lvl9pPr marL="2783799" indent="0">
              <a:buNone/>
              <a:defRPr sz="121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3277" y="1906640"/>
            <a:ext cx="5056378" cy="280438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50846" y="1279552"/>
            <a:ext cx="5081279" cy="627089"/>
          </a:xfrm>
        </p:spPr>
        <p:txBody>
          <a:bodyPr anchor="b"/>
          <a:lstStyle>
            <a:lvl1pPr marL="0" indent="0">
              <a:buNone/>
              <a:defRPr sz="1827" b="1"/>
            </a:lvl1pPr>
            <a:lvl2pPr marL="347975" indent="0">
              <a:buNone/>
              <a:defRPr sz="1522" b="1"/>
            </a:lvl2pPr>
            <a:lvl3pPr marL="695950" indent="0">
              <a:buNone/>
              <a:defRPr sz="1370" b="1"/>
            </a:lvl3pPr>
            <a:lvl4pPr marL="1043925" indent="0">
              <a:buNone/>
              <a:defRPr sz="1218" b="1"/>
            </a:lvl4pPr>
            <a:lvl5pPr marL="1391900" indent="0">
              <a:buNone/>
              <a:defRPr sz="1218" b="1"/>
            </a:lvl5pPr>
            <a:lvl6pPr marL="1739875" indent="0">
              <a:buNone/>
              <a:defRPr sz="1218" b="1"/>
            </a:lvl6pPr>
            <a:lvl7pPr marL="2087850" indent="0">
              <a:buNone/>
              <a:defRPr sz="1218" b="1"/>
            </a:lvl7pPr>
            <a:lvl8pPr marL="2435824" indent="0">
              <a:buNone/>
              <a:defRPr sz="1218" b="1"/>
            </a:lvl8pPr>
            <a:lvl9pPr marL="2783799" indent="0">
              <a:buNone/>
              <a:defRPr sz="121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50846" y="1906640"/>
            <a:ext cx="5081279" cy="280438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2981-8EFD-4846-BBFD-D8735921FA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0366-343B-44E7-B970-2A4515D5F60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803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2981-8EFD-4846-BBFD-D8735921FA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0366-343B-44E7-B970-2A4515D5F60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77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2981-8EFD-4846-BBFD-D8735921FA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0366-343B-44E7-B970-2A4515D5F60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77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277" y="347980"/>
            <a:ext cx="3854924" cy="1217930"/>
          </a:xfrm>
        </p:spPr>
        <p:txBody>
          <a:bodyPr anchor="b"/>
          <a:lstStyle>
            <a:lvl1pPr>
              <a:defRPr sz="243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1279" y="751541"/>
            <a:ext cx="6050846" cy="3709370"/>
          </a:xfrm>
        </p:spPr>
        <p:txBody>
          <a:bodyPr/>
          <a:lstStyle>
            <a:lvl1pPr>
              <a:defRPr sz="2436"/>
            </a:lvl1pPr>
            <a:lvl2pPr>
              <a:defRPr sz="2131"/>
            </a:lvl2pPr>
            <a:lvl3pPr>
              <a:defRPr sz="1827"/>
            </a:lvl3pPr>
            <a:lvl4pPr>
              <a:defRPr sz="1522"/>
            </a:lvl4pPr>
            <a:lvl5pPr>
              <a:defRPr sz="1522"/>
            </a:lvl5pPr>
            <a:lvl6pPr>
              <a:defRPr sz="1522"/>
            </a:lvl6pPr>
            <a:lvl7pPr>
              <a:defRPr sz="1522"/>
            </a:lvl7pPr>
            <a:lvl8pPr>
              <a:defRPr sz="1522"/>
            </a:lvl8pPr>
            <a:lvl9pPr>
              <a:defRPr sz="1522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3277" y="1565910"/>
            <a:ext cx="3854924" cy="2901042"/>
          </a:xfrm>
        </p:spPr>
        <p:txBody>
          <a:bodyPr/>
          <a:lstStyle>
            <a:lvl1pPr marL="0" indent="0">
              <a:buNone/>
              <a:defRPr sz="1218"/>
            </a:lvl1pPr>
            <a:lvl2pPr marL="347975" indent="0">
              <a:buNone/>
              <a:defRPr sz="1066"/>
            </a:lvl2pPr>
            <a:lvl3pPr marL="695950" indent="0">
              <a:buNone/>
              <a:defRPr sz="913"/>
            </a:lvl3pPr>
            <a:lvl4pPr marL="1043925" indent="0">
              <a:buNone/>
              <a:defRPr sz="761"/>
            </a:lvl4pPr>
            <a:lvl5pPr marL="1391900" indent="0">
              <a:buNone/>
              <a:defRPr sz="761"/>
            </a:lvl5pPr>
            <a:lvl6pPr marL="1739875" indent="0">
              <a:buNone/>
              <a:defRPr sz="761"/>
            </a:lvl6pPr>
            <a:lvl7pPr marL="2087850" indent="0">
              <a:buNone/>
              <a:defRPr sz="761"/>
            </a:lvl7pPr>
            <a:lvl8pPr marL="2435824" indent="0">
              <a:buNone/>
              <a:defRPr sz="761"/>
            </a:lvl8pPr>
            <a:lvl9pPr marL="2783799" indent="0">
              <a:buNone/>
              <a:defRPr sz="76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2981-8EFD-4846-BBFD-D8735921FA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0366-343B-44E7-B970-2A4515D5F60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8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277" y="347980"/>
            <a:ext cx="3854924" cy="1217930"/>
          </a:xfrm>
        </p:spPr>
        <p:txBody>
          <a:bodyPr anchor="b"/>
          <a:lstStyle>
            <a:lvl1pPr>
              <a:defRPr sz="243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1279" y="751541"/>
            <a:ext cx="6050846" cy="3709370"/>
          </a:xfrm>
        </p:spPr>
        <p:txBody>
          <a:bodyPr anchor="t"/>
          <a:lstStyle>
            <a:lvl1pPr marL="0" indent="0">
              <a:buNone/>
              <a:defRPr sz="2436"/>
            </a:lvl1pPr>
            <a:lvl2pPr marL="347975" indent="0">
              <a:buNone/>
              <a:defRPr sz="2131"/>
            </a:lvl2pPr>
            <a:lvl3pPr marL="695950" indent="0">
              <a:buNone/>
              <a:defRPr sz="1827"/>
            </a:lvl3pPr>
            <a:lvl4pPr marL="1043925" indent="0">
              <a:buNone/>
              <a:defRPr sz="1522"/>
            </a:lvl4pPr>
            <a:lvl5pPr marL="1391900" indent="0">
              <a:buNone/>
              <a:defRPr sz="1522"/>
            </a:lvl5pPr>
            <a:lvl6pPr marL="1739875" indent="0">
              <a:buNone/>
              <a:defRPr sz="1522"/>
            </a:lvl6pPr>
            <a:lvl7pPr marL="2087850" indent="0">
              <a:buNone/>
              <a:defRPr sz="1522"/>
            </a:lvl7pPr>
            <a:lvl8pPr marL="2435824" indent="0">
              <a:buNone/>
              <a:defRPr sz="1522"/>
            </a:lvl8pPr>
            <a:lvl9pPr marL="2783799" indent="0">
              <a:buNone/>
              <a:defRPr sz="1522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3277" y="1565910"/>
            <a:ext cx="3854924" cy="2901042"/>
          </a:xfrm>
        </p:spPr>
        <p:txBody>
          <a:bodyPr/>
          <a:lstStyle>
            <a:lvl1pPr marL="0" indent="0">
              <a:buNone/>
              <a:defRPr sz="1218"/>
            </a:lvl1pPr>
            <a:lvl2pPr marL="347975" indent="0">
              <a:buNone/>
              <a:defRPr sz="1066"/>
            </a:lvl2pPr>
            <a:lvl3pPr marL="695950" indent="0">
              <a:buNone/>
              <a:defRPr sz="913"/>
            </a:lvl3pPr>
            <a:lvl4pPr marL="1043925" indent="0">
              <a:buNone/>
              <a:defRPr sz="761"/>
            </a:lvl4pPr>
            <a:lvl5pPr marL="1391900" indent="0">
              <a:buNone/>
              <a:defRPr sz="761"/>
            </a:lvl5pPr>
            <a:lvl6pPr marL="1739875" indent="0">
              <a:buNone/>
              <a:defRPr sz="761"/>
            </a:lvl6pPr>
            <a:lvl7pPr marL="2087850" indent="0">
              <a:buNone/>
              <a:defRPr sz="761"/>
            </a:lvl7pPr>
            <a:lvl8pPr marL="2435824" indent="0">
              <a:buNone/>
              <a:defRPr sz="761"/>
            </a:lvl8pPr>
            <a:lvl9pPr marL="2783799" indent="0">
              <a:buNone/>
              <a:defRPr sz="76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2981-8EFD-4846-BBFD-D8735921FA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0366-343B-44E7-B970-2A4515D5F60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93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2981-8EFD-4846-BBFD-D8735921FA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0366-343B-44E7-B970-2A4515D5F60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5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53356" y="277901"/>
            <a:ext cx="2577212" cy="442345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1720" y="277901"/>
            <a:ext cx="7582233" cy="442345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2981-8EFD-4846-BBFD-D8735921FA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0366-343B-44E7-B970-2A4515D5F60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35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1720" y="277901"/>
            <a:ext cx="10308848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720" y="1389503"/>
            <a:ext cx="10308848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720" y="4837889"/>
            <a:ext cx="2689265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22981-8EFD-4846-BBFD-D8735921FA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59196" y="4837889"/>
            <a:ext cx="4033897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303" y="4837889"/>
            <a:ext cx="2689265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10366-343B-44E7-B970-2A4515D5F60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2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33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131" kern="1200">
          <a:solidFill>
            <a:schemeClr val="tx1"/>
          </a:solidFill>
          <a:latin typeface="+mn-lt"/>
          <a:ea typeface="+mn-ea"/>
          <a:cs typeface="+mn-cs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27" kern="1200">
          <a:solidFill>
            <a:schemeClr val="tx1"/>
          </a:solidFill>
          <a:latin typeface="+mn-lt"/>
          <a:ea typeface="+mn-ea"/>
          <a:cs typeface="+mn-cs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522" kern="1200">
          <a:solidFill>
            <a:schemeClr val="tx1"/>
          </a:solidFill>
          <a:latin typeface="+mn-lt"/>
          <a:ea typeface="+mn-ea"/>
          <a:cs typeface="+mn-cs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7CE73C7F-2F4D-CB36-2E4D-0BED37A97D62}"/>
                  </a:ext>
                </a:extLst>
              </p:cNvPr>
              <p:cNvSpPr txBox="1"/>
              <p:nvPr/>
            </p:nvSpPr>
            <p:spPr>
              <a:xfrm>
                <a:off x="9632148" y="502629"/>
                <a:ext cx="2333477" cy="1407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eqArr>
                                  <m:eqArr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𝑝𝑝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7CE73C7F-2F4D-CB36-2E4D-0BED37A97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2148" y="502629"/>
                <a:ext cx="2333477" cy="14073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47F36858-926A-C8F2-DCD2-33DC1F4275AD}"/>
                  </a:ext>
                </a:extLst>
              </p:cNvPr>
              <p:cNvSpPr txBox="1"/>
              <p:nvPr/>
            </p:nvSpPr>
            <p:spPr>
              <a:xfrm>
                <a:off x="2889137" y="628337"/>
                <a:ext cx="2333477" cy="1155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eqArr>
                                  <m:eqArr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𝑝𝑝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47F36858-926A-C8F2-DCD2-33DC1F427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137" y="628337"/>
                <a:ext cx="2333477" cy="11559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498037EF-B5F2-0436-F69D-034A5A7263EB}"/>
                  </a:ext>
                </a:extLst>
              </p:cNvPr>
              <p:cNvSpPr txBox="1"/>
              <p:nvPr/>
            </p:nvSpPr>
            <p:spPr>
              <a:xfrm>
                <a:off x="6062765" y="496512"/>
                <a:ext cx="2333477" cy="1407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DE" sz="1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acc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eqArr>
                                  <m:eqArr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𝑝𝑝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498037EF-B5F2-0436-F69D-034A5A726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765" y="496512"/>
                <a:ext cx="2333477" cy="14073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DD08F01E-E798-F42B-20A5-8C2AF59A78B5}"/>
                  </a:ext>
                </a:extLst>
              </p:cNvPr>
              <p:cNvSpPr txBox="1"/>
              <p:nvPr/>
            </p:nvSpPr>
            <p:spPr>
              <a:xfrm>
                <a:off x="-67056" y="628304"/>
                <a:ext cx="2730889" cy="1156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   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   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DD08F01E-E798-F42B-20A5-8C2AF59A7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056" y="628304"/>
                <a:ext cx="2730889" cy="11560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AB21F73E-C9BC-66FA-5153-6B92F6FF8745}"/>
                  </a:ext>
                </a:extLst>
              </p:cNvPr>
              <p:cNvSpPr txBox="1"/>
              <p:nvPr/>
            </p:nvSpPr>
            <p:spPr>
              <a:xfrm>
                <a:off x="6033261" y="3226363"/>
                <a:ext cx="2418479" cy="1407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DE" sz="18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acc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eqArr>
                                  <m:eqArr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𝑝𝑝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AB21F73E-C9BC-66FA-5153-6B92F6FF8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261" y="3226363"/>
                <a:ext cx="2418479" cy="14073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8D58413F-6BDC-6F90-DE7D-D93D239D8114}"/>
                  </a:ext>
                </a:extLst>
              </p:cNvPr>
              <p:cNvSpPr txBox="1"/>
              <p:nvPr/>
            </p:nvSpPr>
            <p:spPr>
              <a:xfrm>
                <a:off x="442528" y="1759242"/>
                <a:ext cx="21714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Preprocessed </a:t>
                </a:r>
              </a:p>
              <a:p>
                <a:pPr algn="ctr"/>
                <a:r>
                  <a:rPr lang="en-US" dirty="0"/>
                  <a:t>count matrix (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8D58413F-6BDC-6F90-DE7D-D93D239D8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28" y="1759242"/>
                <a:ext cx="2171428" cy="646331"/>
              </a:xfrm>
              <a:prstGeom prst="rect">
                <a:avLst/>
              </a:prstGeom>
              <a:blipFill>
                <a:blip r:embed="rId7"/>
                <a:stretch>
                  <a:fillRect l="-3090" t="-4717" r="-3090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feld 59">
            <a:extLst>
              <a:ext uri="{FF2B5EF4-FFF2-40B4-BE49-F238E27FC236}">
                <a16:creationId xmlns:a16="http://schemas.microsoft.com/office/drawing/2014/main" id="{A624CEA5-4BDC-E151-35B5-62DAD5D7A72B}"/>
              </a:ext>
            </a:extLst>
          </p:cNvPr>
          <p:cNvSpPr txBox="1"/>
          <p:nvPr/>
        </p:nvSpPr>
        <p:spPr>
          <a:xfrm>
            <a:off x="3299342" y="1805409"/>
            <a:ext cx="1935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Sample covariance</a:t>
            </a:r>
          </a:p>
          <a:p>
            <a:pPr algn="ctr"/>
            <a:r>
              <a:rPr lang="en-US" dirty="0"/>
              <a:t>matrix (singular)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122809CB-6975-0A57-A770-4A83B1D41D5F}"/>
              </a:ext>
            </a:extLst>
          </p:cNvPr>
          <p:cNvSpPr txBox="1"/>
          <p:nvPr/>
        </p:nvSpPr>
        <p:spPr>
          <a:xfrm>
            <a:off x="6519862" y="1805410"/>
            <a:ext cx="1863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Sparse covariance</a:t>
            </a:r>
          </a:p>
          <a:p>
            <a:pPr algn="ctr"/>
            <a:r>
              <a:rPr lang="en-US" dirty="0"/>
              <a:t>matrix (invertible)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F3838877-F2B3-9CD4-66B7-D9D3A7D05B79}"/>
              </a:ext>
            </a:extLst>
          </p:cNvPr>
          <p:cNvSpPr txBox="1"/>
          <p:nvPr/>
        </p:nvSpPr>
        <p:spPr>
          <a:xfrm>
            <a:off x="10080811" y="1811526"/>
            <a:ext cx="1882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Sparse correlation</a:t>
            </a:r>
          </a:p>
          <a:p>
            <a:pPr algn="ctr"/>
            <a:r>
              <a:rPr lang="en-US" dirty="0"/>
              <a:t>matrix</a:t>
            </a:r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0CDB5024-DD11-C797-B169-063A2361646F}"/>
              </a:ext>
            </a:extLst>
          </p:cNvPr>
          <p:cNvCxnSpPr>
            <a:cxnSpLocks/>
          </p:cNvCxnSpPr>
          <p:nvPr/>
        </p:nvCxnSpPr>
        <p:spPr>
          <a:xfrm>
            <a:off x="8332221" y="1206315"/>
            <a:ext cx="13416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6BBEE8A5-F958-8225-23C4-E292A53AC426}"/>
              </a:ext>
            </a:extLst>
          </p:cNvPr>
          <p:cNvCxnSpPr>
            <a:cxnSpLocks/>
          </p:cNvCxnSpPr>
          <p:nvPr/>
        </p:nvCxnSpPr>
        <p:spPr>
          <a:xfrm>
            <a:off x="5160072" y="1206458"/>
            <a:ext cx="9691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FFFF57CC-0F3C-B9E7-0BE3-FB4F34217330}"/>
              </a:ext>
            </a:extLst>
          </p:cNvPr>
          <p:cNvCxnSpPr>
            <a:cxnSpLocks/>
          </p:cNvCxnSpPr>
          <p:nvPr/>
        </p:nvCxnSpPr>
        <p:spPr>
          <a:xfrm>
            <a:off x="2621731" y="1206315"/>
            <a:ext cx="3348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C6947715-2F65-D593-4FCC-D2CA7787CAEC}"/>
              </a:ext>
            </a:extLst>
          </p:cNvPr>
          <p:cNvCxnSpPr>
            <a:cxnSpLocks/>
          </p:cNvCxnSpPr>
          <p:nvPr/>
        </p:nvCxnSpPr>
        <p:spPr>
          <a:xfrm>
            <a:off x="7477544" y="2618224"/>
            <a:ext cx="0" cy="6930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C5F3AEAE-9FC0-4FAB-B77C-00643C171675}"/>
              </a:ext>
            </a:extLst>
          </p:cNvPr>
          <p:cNvSpPr txBox="1"/>
          <p:nvPr/>
        </p:nvSpPr>
        <p:spPr>
          <a:xfrm>
            <a:off x="6549266" y="4561811"/>
            <a:ext cx="1846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Sparse inverse </a:t>
            </a:r>
          </a:p>
          <a:p>
            <a:pPr algn="ctr"/>
            <a:r>
              <a:rPr lang="en-US" dirty="0"/>
              <a:t>covariance matrix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56201006-86F5-EE18-3655-F484ED7A4232}"/>
              </a:ext>
            </a:extLst>
          </p:cNvPr>
          <p:cNvSpPr txBox="1"/>
          <p:nvPr/>
        </p:nvSpPr>
        <p:spPr>
          <a:xfrm>
            <a:off x="5068342" y="844939"/>
            <a:ext cx="11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Shrinkage</a:t>
            </a:r>
            <a:endParaRPr lang="en-US" sz="1600" dirty="0"/>
          </a:p>
        </p:txBody>
      </p:sp>
      <p:cxnSp>
        <p:nvCxnSpPr>
          <p:cNvPr id="69" name="Verbinder: gewinkelt 68">
            <a:extLst>
              <a:ext uri="{FF2B5EF4-FFF2-40B4-BE49-F238E27FC236}">
                <a16:creationId xmlns:a16="http://schemas.microsoft.com/office/drawing/2014/main" id="{F32B6385-B05E-CC42-8893-CAAEBFBF5E7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21783" y="-4236217"/>
            <a:ext cx="6117" cy="9589138"/>
          </a:xfrm>
          <a:prstGeom prst="bentConnector3">
            <a:avLst>
              <a:gd name="adj1" fmla="val -320325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feld 69">
            <a:extLst>
              <a:ext uri="{FF2B5EF4-FFF2-40B4-BE49-F238E27FC236}">
                <a16:creationId xmlns:a16="http://schemas.microsoft.com/office/drawing/2014/main" id="{A2D1BA00-D977-3D57-04F7-AC4598FB7CE3}"/>
              </a:ext>
            </a:extLst>
          </p:cNvPr>
          <p:cNvSpPr txBox="1"/>
          <p:nvPr/>
        </p:nvSpPr>
        <p:spPr>
          <a:xfrm>
            <a:off x="4101696" y="6096"/>
            <a:ext cx="424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Sparse correlation estimation (e.g., </a:t>
            </a:r>
            <a:r>
              <a:rPr lang="en-US" dirty="0" err="1"/>
              <a:t>SparCC</a:t>
            </a:r>
            <a:r>
              <a:rPr lang="en-US" dirty="0"/>
              <a:t>)</a:t>
            </a:r>
          </a:p>
        </p:txBody>
      </p:sp>
      <p:cxnSp>
        <p:nvCxnSpPr>
          <p:cNvPr id="71" name="Verbinder: gewinkelt 70">
            <a:extLst>
              <a:ext uri="{FF2B5EF4-FFF2-40B4-BE49-F238E27FC236}">
                <a16:creationId xmlns:a16="http://schemas.microsoft.com/office/drawing/2014/main" id="{1119DE21-BB23-EA62-3249-872942EF35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90031" y="845815"/>
            <a:ext cx="1524477" cy="464399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0F07C047-DB17-1502-3FE1-BE485F42DC2E}"/>
                  </a:ext>
                </a:extLst>
              </p:cNvPr>
              <p:cNvSpPr txBox="1"/>
              <p:nvPr/>
            </p:nvSpPr>
            <p:spPr>
              <a:xfrm>
                <a:off x="9625607" y="3224161"/>
                <a:ext cx="2333477" cy="1407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acc>
                                              <m:accPr>
                                                <m:chr m:val="̃"/>
                                                <m:ctrlPr>
                                                  <a:rPr lang="de-DE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de-DE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𝜌</m:t>
                                                </m:r>
                                              </m:e>
                                            </m:acc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acc>
                                              <m:accPr>
                                                <m:chr m:val="̃"/>
                                                <m:ctrlPr>
                                                  <a:rPr lang="de-DE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de-DE" i="1">
                                                    <a:latin typeface="Cambria Math" panose="02040503050406030204" pitchFamily="18" charset="0"/>
                                                  </a:rPr>
                                                  <m:t>𝜌</m:t>
                                                </m:r>
                                              </m:e>
                                            </m:acc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eqArr>
                                  <m:eqArr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acc>
                                              <m:accPr>
                                                <m:chr m:val="̃"/>
                                                <m:ctrlPr>
                                                  <a:rPr lang="de-DE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de-DE" i="1">
                                                    <a:latin typeface="Cambria Math" panose="02040503050406030204" pitchFamily="18" charset="0"/>
                                                  </a:rPr>
                                                  <m:t>𝜌</m:t>
                                                </m:r>
                                              </m:e>
                                            </m:acc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acc>
                                              <m:accPr>
                                                <m:chr m:val="̃"/>
                                                <m:ctrlPr>
                                                  <a:rPr lang="de-DE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de-DE" i="1">
                                                    <a:latin typeface="Cambria Math" panose="02040503050406030204" pitchFamily="18" charset="0"/>
                                                  </a:rPr>
                                                  <m:t>𝜌</m:t>
                                                </m:r>
                                              </m:e>
                                            </m:acc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</m:acc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</m:acc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𝑝𝑝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0F07C047-DB17-1502-3FE1-BE485F42D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607" y="3224161"/>
                <a:ext cx="2333477" cy="14073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feld 72">
            <a:extLst>
              <a:ext uri="{FF2B5EF4-FFF2-40B4-BE49-F238E27FC236}">
                <a16:creationId xmlns:a16="http://schemas.microsoft.com/office/drawing/2014/main" id="{542FA4F8-57EC-79D6-B86E-37D59D3FF2FA}"/>
              </a:ext>
            </a:extLst>
          </p:cNvPr>
          <p:cNvSpPr txBox="1"/>
          <p:nvPr/>
        </p:nvSpPr>
        <p:spPr>
          <a:xfrm>
            <a:off x="10089092" y="4561194"/>
            <a:ext cx="1860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Partial correlation</a:t>
            </a:r>
          </a:p>
          <a:p>
            <a:pPr algn="ctr"/>
            <a:r>
              <a:rPr lang="en-US" dirty="0"/>
              <a:t>matrix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5416FCCA-449C-DFB9-2940-7F0E55E249A0}"/>
              </a:ext>
            </a:extLst>
          </p:cNvPr>
          <p:cNvSpPr txBox="1"/>
          <p:nvPr/>
        </p:nvSpPr>
        <p:spPr>
          <a:xfrm>
            <a:off x="1906764" y="3612691"/>
            <a:ext cx="36910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Sparse inverse covariance estimation </a:t>
            </a:r>
          </a:p>
          <a:p>
            <a:pPr algn="ctr"/>
            <a:r>
              <a:rPr lang="en-US" dirty="0"/>
              <a:t>(e.g., </a:t>
            </a:r>
            <a:r>
              <a:rPr lang="en-US" dirty="0" err="1"/>
              <a:t>SpiecEasi</a:t>
            </a:r>
            <a:r>
              <a:rPr lang="en-US" dirty="0"/>
              <a:t>)</a:t>
            </a:r>
          </a:p>
        </p:txBody>
      </p: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9EAB75DB-31FA-1E0D-49C6-662CE0A161C8}"/>
              </a:ext>
            </a:extLst>
          </p:cNvPr>
          <p:cNvCxnSpPr>
            <a:cxnSpLocks/>
          </p:cNvCxnSpPr>
          <p:nvPr/>
        </p:nvCxnSpPr>
        <p:spPr>
          <a:xfrm>
            <a:off x="8392567" y="3927847"/>
            <a:ext cx="12741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B52BE90B-C0D6-D98C-3882-6D0924A93CCD}"/>
                  </a:ext>
                </a:extLst>
              </p:cNvPr>
              <p:cNvSpPr txBox="1"/>
              <p:nvPr/>
            </p:nvSpPr>
            <p:spPr>
              <a:xfrm>
                <a:off x="7934110" y="3160551"/>
                <a:ext cx="2164666" cy="726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̃"/>
                                  <m:ctrlP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de-DE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16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16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de-DE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16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B52BE90B-C0D6-D98C-3882-6D0924A93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110" y="3160551"/>
                <a:ext cx="2164666" cy="7264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2A69C5EF-47AA-8DE3-881F-A735F1F53DC4}"/>
                  </a:ext>
                </a:extLst>
              </p:cNvPr>
              <p:cNvSpPr txBox="1"/>
              <p:nvPr/>
            </p:nvSpPr>
            <p:spPr>
              <a:xfrm>
                <a:off x="7173383" y="2715010"/>
                <a:ext cx="1629702" cy="384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e-DE" sz="1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p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2A69C5EF-47AA-8DE3-881F-A735F1F53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383" y="2715010"/>
                <a:ext cx="1629702" cy="384208"/>
              </a:xfrm>
              <a:prstGeom prst="rect">
                <a:avLst/>
              </a:prstGeom>
              <a:blipFill>
                <a:blip r:embed="rId10"/>
                <a:stretch>
                  <a:fillRect t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4E4539AA-0984-C14E-06B1-D7DD36D9BFF0}"/>
                  </a:ext>
                </a:extLst>
              </p:cNvPr>
              <p:cNvSpPr txBox="1"/>
              <p:nvPr/>
            </p:nvSpPr>
            <p:spPr>
              <a:xfrm>
                <a:off x="7889972" y="539194"/>
                <a:ext cx="2164666" cy="6714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de-DE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16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16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de-DE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16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4E4539AA-0984-C14E-06B1-D7DD36D9B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972" y="539194"/>
                <a:ext cx="2164666" cy="67140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694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80</Words>
  <Application>Microsoft Office PowerPoint</Application>
  <PresentationFormat>Benutzerdefiniert</PresentationFormat>
  <Paragraphs>25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Stefanie Peschel</dc:creator>
  <cp:lastModifiedBy>Stefanie Peschel</cp:lastModifiedBy>
  <cp:revision>1</cp:revision>
  <dcterms:created xsi:type="dcterms:W3CDTF">2026-04-15T17:12:05Z</dcterms:created>
  <dcterms:modified xsi:type="dcterms:W3CDTF">2026-04-15T17:14:37Z</dcterms:modified>
</cp:coreProperties>
</file>